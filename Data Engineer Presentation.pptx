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5397" y="2779365"/>
            <a:ext cx="9641205" cy="6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lang="en-IN" sz="4200" b="1" dirty="0">
                <a:solidFill>
                  <a:srgbClr val="F8FAFC"/>
                </a:solidFill>
                <a:latin typeface="Plus Jakarta Sans"/>
              </a:rPr>
              <a:t> Data Engineer </a:t>
            </a:r>
            <a:r>
              <a:rPr sz="4200" b="1" i="0" u="none" dirty="0">
                <a:solidFill>
                  <a:srgbClr val="F8FAFC"/>
                </a:solidFill>
                <a:latin typeface="Plus Jakarta San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583185"/>
            <a:ext cx="8096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End-to-End Enterprise Data Pipeline, Graph Asset Hierarchy &amp; Analytical Modeling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05412" y="4264222"/>
            <a:ext cx="12573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64748B"/>
                </a:solidFill>
                <a:latin typeface="Inter"/>
              </a:rPr>
              <a:t>Role: </a:t>
            </a:r>
            <a:r>
              <a:rPr sz="1050" b="0" i="0" u="none" dirty="0">
                <a:solidFill>
                  <a:srgbClr val="38BDF8"/>
                </a:solidFill>
                <a:latin typeface="Inter SemiBold"/>
              </a:rPr>
              <a:t>Data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66912"/>
            <a:ext cx="53244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625" y="2595562"/>
            <a:ext cx="50958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High-Volume Ingestion: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Kafka &amp; AWS Kinesis decouple real-time IoT sensors (temp, humidity, energy, fault logs) from downstream engines.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3186112"/>
            <a:ext cx="50958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Medallion Data Architecture: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Structured into Bronze (Raw Telemetry), Silver (Cleaned &amp; Validated), and Gold (Aggregated Metrics) layers.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3776662"/>
            <a:ext cx="50958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Batch &amp; Streaming ETL: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Spark Structured Streaming handles continuous aggregations, while Airflow orchestrates daily batch jobs.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4367212"/>
            <a:ext cx="50958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Multi-Level Aggregation: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Computes hourly energy use, daily asset utilization, site-level &amp; building-level operational metrics.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976437"/>
            <a:ext cx="5305425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2557462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3148012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3738562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329112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Plus Jakarta Sans"/>
              </a:rPr>
              <a:t>Scalable Ingestion &amp; Pipeline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76462"/>
            <a:ext cx="5324475" cy="3200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76462"/>
            <a:ext cx="5324475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5350" y="2490787"/>
            <a:ext cx="493061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lus Jakarta Sans"/>
              </a:rPr>
              <a:t>Dimensional Star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2909887"/>
            <a:ext cx="46958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Designed for analytical dashboarding, historical reporting, and downstream AI/ML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2490787"/>
            <a:ext cx="493061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lus Jakarta Sans"/>
              </a:rPr>
              <a:t>Multi-Asset Hierarchy (Graph Model)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2909887"/>
            <a:ext cx="46958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Models parent-child equipment relationships (Site → Building → Chiller → AHU → Sensors) using NetworkX / Neo4j.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" y="3509962"/>
            <a:ext cx="44672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Fact Tables: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Telemetry Fact, Energy Fact, Event &amp; Fault Fact.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50" y="3871912"/>
            <a:ext cx="44672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Dimensions: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Site, Building, Asset (AHU/Chiller/Pump), and Time Dimensions.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50" y="4462462"/>
            <a:ext cx="446722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Optimization: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Date-partitioned tables with B-tree indexing on 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asset_id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&amp; 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timestamp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9425" y="3509962"/>
            <a:ext cx="44672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Impact Analysis: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Traverses tree nodes to isolate downstream affected equipment during failures.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9425" y="4100512"/>
            <a:ext cx="44672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Graph Validation: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Automatically detects orphan nodes and disconnected telemetry sensors across sites.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3471862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3833812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50" y="4424362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0825" y="3471862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0825" y="4062412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Plus Jakarta Sans"/>
              </a:rPr>
              <a:t>Data Modeling &amp; Graph Asset Hierarchy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55068"/>
            <a:ext cx="3524250" cy="26431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455068"/>
            <a:ext cx="3524250" cy="26431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455068"/>
            <a:ext cx="3524250" cy="26431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731293"/>
            <a:ext cx="476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3398043"/>
            <a:ext cx="186023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lus Jakarta Sans"/>
              </a:rPr>
              <a:t>Quality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750468"/>
            <a:ext cx="297180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Automated validation checks incoming telemetry for missing values, duplicate event keys, schema violations, late-arriving data, and statistical outliers before entering Silver storage.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0100" y="2731293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0100" y="3398043"/>
            <a:ext cx="210026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lus Jakarta Sans"/>
              </a:rPr>
              <a:t>Airflow 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3750468"/>
            <a:ext cx="297180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DAGs manage pipeline dependencies, data backfills, and batch syncs. Implements exponential backoff retries, SLA tracking, and dynamic task mapping across site assets.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2950" y="2731293"/>
            <a:ext cx="476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2950" y="3398043"/>
            <a:ext cx="217027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lus Jakarta Sans"/>
              </a:rPr>
              <a:t>Error Handling &amp;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2950" y="3750468"/>
            <a:ext cx="29718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Invalid records are routed to a Dead-Letter Queue (DLQ) for inspection. Real-time alerting triggers via Webhooks on critical fault clusters or abnormal power surges.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075" y="2855118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9637" y="2855118"/>
            <a:ext cx="25717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6775" y="2855118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Plus Jakarta Sans"/>
              </a:rPr>
              <a:t>Data Quality &amp; Pipeline Orchestration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648075"/>
            <a:ext cx="11029950" cy="1876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028825"/>
            <a:ext cx="3524250" cy="1333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875" y="2028825"/>
            <a:ext cx="3524250" cy="1333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6725" y="2028825"/>
            <a:ext cx="3524250" cy="13335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0550" y="3657600"/>
          <a:ext cx="11010898" cy="1857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6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8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7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4343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 SemiBold"/>
                        </a:rPr>
                        <a:t>Challenge Requirement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 SemiBold"/>
                        </a:rPr>
                        <a:t>Implementation Approach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 SemiBold"/>
                        </a:rPr>
                        <a:t>Status / Deliverable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343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4A3B8"/>
                          </a:solidFill>
                          <a:latin typeface="Inter"/>
                        </a:rPr>
                        <a:t>Energy &amp; Fault SQL Queries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Calculates top 10 energy consumers, site averages &amp; 30-day fault triggers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Completed (SQL)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343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4A3B8"/>
                          </a:solidFill>
                          <a:latin typeface="Inter"/>
                        </a:rPr>
                        <a:t>Hierarchical Asset Queries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Recursive CTEs &amp; NetworkX graph queries for parent/child traversal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Completed (Graph)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346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4A3B8"/>
                          </a:solidFill>
                          <a:latin typeface="Inter"/>
                        </a:rPr>
                        <a:t>Dashboard / API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Streamlit UI for telemetry metrics + FastAPI REST endpoints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Completed (API/UI)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9150" y="2266950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3150" b="1" i="0" u="none" dirty="0">
                <a:solidFill>
                  <a:srgbClr val="38BDF8"/>
                </a:solidFill>
                <a:latin typeface="Plus Jakarta Sans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2743200"/>
            <a:ext cx="304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8FAFC"/>
                </a:solidFill>
                <a:latin typeface="Inter SemiBold"/>
              </a:rPr>
              <a:t>Pipeline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2971800"/>
            <a:ext cx="3048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Ingestion, Validation &amp;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66950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3150" b="1" i="0" u="none">
                <a:solidFill>
                  <a:srgbClr val="38BDF8"/>
                </a:solidFill>
                <a:latin typeface="Plus Jakarta Sans"/>
              </a:rPr>
              <a:t>&lt; 24h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304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8FAFC"/>
                </a:solidFill>
                <a:latin typeface="Inter SemiBold"/>
              </a:rPr>
              <a:t>Outage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71800"/>
            <a:ext cx="3048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Automated Inactive Sensor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4850" y="2266950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3150" b="1" i="0" u="none">
                <a:solidFill>
                  <a:srgbClr val="38BDF8"/>
                </a:solidFill>
                <a:latin typeface="Plus Jakarta Sans"/>
              </a:rPr>
              <a:t>3 Endpoints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4850" y="2743200"/>
            <a:ext cx="304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8FAFC"/>
                </a:solidFill>
                <a:latin typeface="Inter SemiBold"/>
              </a:rPr>
              <a:t>REST API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4850" y="2971800"/>
            <a:ext cx="3048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Sites, Assets &amp; Health Telemetry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0550" y="4110037"/>
            <a:ext cx="261684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7394" y="4110037"/>
            <a:ext cx="642833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635728" y="4110037"/>
            <a:ext cx="19657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0550" y="4576762"/>
            <a:ext cx="261684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7394" y="4576762"/>
            <a:ext cx="642833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635728" y="4576762"/>
            <a:ext cx="19657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0550" y="5043487"/>
            <a:ext cx="261684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7394" y="5043487"/>
            <a:ext cx="642833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635728" y="5043487"/>
            <a:ext cx="196572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8128" y="4257675"/>
            <a:ext cx="1114425" cy="2190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8128" y="4724400"/>
            <a:ext cx="1219200" cy="2190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8128" y="5191125"/>
            <a:ext cx="1238250" cy="21907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Plus Jakarta Sans"/>
              </a:rPr>
              <a:t>Operational Analytics &amp; API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93771" y="3545681"/>
            <a:ext cx="4278766" cy="313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IN" sz="5000" b="0" i="0" u="none" dirty="0">
                <a:solidFill>
                  <a:srgbClr val="94A3B8"/>
                </a:solidFill>
                <a:latin typeface="Inter"/>
              </a:rPr>
              <a:t>THANK YOU</a:t>
            </a:r>
            <a:endParaRPr sz="50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441</Words>
  <Application>Microsoft Office PowerPoint</Application>
  <PresentationFormat>Widescreen</PresentationFormat>
  <Paragraphs>57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Inter SemiBold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priyadharshini r</cp:lastModifiedBy>
  <cp:revision>2</cp:revision>
  <dcterms:created xsi:type="dcterms:W3CDTF">2013-01-27T09:14:16Z</dcterms:created>
  <dcterms:modified xsi:type="dcterms:W3CDTF">2026-08-16T05:07:39Z</dcterms:modified>
  <cp:category/>
</cp:coreProperties>
</file>